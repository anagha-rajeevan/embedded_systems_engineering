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3827B-9749-33E5-9C8E-0D8495F64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2758" y="1122362"/>
            <a:ext cx="10531928" cy="2976109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entury" panose="02040604050505020304" pitchFamily="18" charset="0"/>
              </a:rPr>
              <a:t>STM32-Based Home Safety &amp; Theft Detection System</a:t>
            </a:r>
            <a:endParaRPr lang="en-IN" dirty="0"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717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D360C-9984-9FFE-9348-1A537A522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273278"/>
            <a:ext cx="8791575" cy="1594851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3A8A3-E79D-3C69-F2C2-ED6320923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3" y="2422616"/>
            <a:ext cx="10010776" cy="1326923"/>
          </a:xfrm>
        </p:spPr>
        <p:txBody>
          <a:bodyPr/>
          <a:lstStyle/>
          <a:p>
            <a:r>
              <a:rPr lang="en-US" cap="none" dirty="0">
                <a:solidFill>
                  <a:schemeClr val="bg1"/>
                </a:solidFill>
              </a:rPr>
              <a:t>To design a compact embedded system using STM32 that detects </a:t>
            </a:r>
            <a:r>
              <a:rPr lang="en-US" b="1" cap="none" dirty="0">
                <a:solidFill>
                  <a:schemeClr val="bg1"/>
                </a:solidFill>
              </a:rPr>
              <a:t>intrusion, smoke, and high-temperature fire conditions</a:t>
            </a:r>
            <a:r>
              <a:rPr lang="en-US" cap="none" dirty="0">
                <a:solidFill>
                  <a:schemeClr val="bg1"/>
                </a:solidFill>
              </a:rPr>
              <a:t> </a:t>
            </a:r>
            <a:r>
              <a:rPr lang="en-IN" cap="none" dirty="0">
                <a:solidFill>
                  <a:schemeClr val="bg1"/>
                </a:solidFill>
              </a:rPr>
              <a:t>with priority-based alarm handling </a:t>
            </a:r>
            <a:r>
              <a:rPr lang="en-US" cap="none" dirty="0">
                <a:solidFill>
                  <a:schemeClr val="bg1"/>
                </a:solidFill>
              </a:rPr>
              <a:t>for home safety.</a:t>
            </a:r>
            <a:endParaRPr lang="en-IN" cap="non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594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B7722-14D9-894C-8842-994BF5698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70271"/>
            <a:ext cx="9905999" cy="549623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SYSTEM COMPONENTS</a:t>
            </a:r>
          </a:p>
          <a:p>
            <a:r>
              <a:rPr lang="en-IN" b="1" dirty="0">
                <a:solidFill>
                  <a:schemeClr val="bg1"/>
                </a:solidFill>
              </a:rPr>
              <a:t>Microcontroller:</a:t>
            </a:r>
            <a:r>
              <a:rPr lang="en-IN" dirty="0">
                <a:solidFill>
                  <a:schemeClr val="bg1"/>
                </a:solidFill>
              </a:rPr>
              <a:t> STM32 (F4 series)</a:t>
            </a:r>
          </a:p>
          <a:p>
            <a:r>
              <a:rPr lang="en-IN" b="1" dirty="0">
                <a:solidFill>
                  <a:schemeClr val="bg1"/>
                </a:solidFill>
              </a:rPr>
              <a:t>Sensors:</a:t>
            </a:r>
            <a:endParaRPr lang="en-IN" dirty="0">
              <a:solidFill>
                <a:schemeClr val="bg1"/>
              </a:solidFill>
            </a:endParaRPr>
          </a:p>
          <a:p>
            <a:pPr lvl="1"/>
            <a:r>
              <a:rPr lang="en-IN" dirty="0">
                <a:solidFill>
                  <a:schemeClr val="bg1"/>
                </a:solidFill>
              </a:rPr>
              <a:t>PIR Sensor – Intrusion detection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MQ-2 Gas Sensor – Smoke/Gas detection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LM35 Temperature Sensor – Fire / over-temperature detection</a:t>
            </a:r>
          </a:p>
          <a:p>
            <a:r>
              <a:rPr lang="en-IN" b="1" dirty="0">
                <a:solidFill>
                  <a:schemeClr val="bg1"/>
                </a:solidFill>
              </a:rPr>
              <a:t>Outputs:</a:t>
            </a:r>
            <a:endParaRPr lang="en-IN" dirty="0">
              <a:solidFill>
                <a:schemeClr val="bg1"/>
              </a:solidFill>
            </a:endParaRPr>
          </a:p>
          <a:p>
            <a:pPr lvl="1"/>
            <a:r>
              <a:rPr lang="en-IN" dirty="0">
                <a:solidFill>
                  <a:schemeClr val="bg1"/>
                </a:solidFill>
              </a:rPr>
              <a:t>Buzzer (audible alerts)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LEDs (status indication)</a:t>
            </a:r>
          </a:p>
          <a:p>
            <a:r>
              <a:rPr lang="en-IN" b="1" dirty="0">
                <a:solidFill>
                  <a:schemeClr val="bg1"/>
                </a:solidFill>
              </a:rPr>
              <a:t>Communication:</a:t>
            </a:r>
            <a:r>
              <a:rPr lang="en-IN" dirty="0">
                <a:solidFill>
                  <a:schemeClr val="bg1"/>
                </a:solidFill>
              </a:rPr>
              <a:t> UART (system status/debug)</a:t>
            </a:r>
          </a:p>
          <a:p>
            <a:r>
              <a:rPr lang="en-US" dirty="0">
                <a:solidFill>
                  <a:schemeClr val="bg1"/>
                </a:solidFill>
              </a:rPr>
              <a:t>When a dangerous condition is detected, the STM32 sends a text alert via UART, for example:</a:t>
            </a:r>
          </a:p>
          <a:p>
            <a:r>
              <a:rPr lang="en-US" dirty="0">
                <a:solidFill>
                  <a:schemeClr val="bg1"/>
                </a:solidFill>
              </a:rPr>
              <a:t>FIRE ALERT: HIGH TEMPERATURE DETECTED</a:t>
            </a:r>
          </a:p>
          <a:p>
            <a:r>
              <a:rPr lang="en-US" dirty="0">
                <a:solidFill>
                  <a:schemeClr val="bg1"/>
                </a:solidFill>
              </a:rPr>
              <a:t>SMOKE ALERT: SMOKE LEVEL HIGH</a:t>
            </a:r>
          </a:p>
          <a:p>
            <a:r>
              <a:rPr lang="en-US" dirty="0">
                <a:solidFill>
                  <a:schemeClr val="bg1"/>
                </a:solidFill>
              </a:rPr>
              <a:t>INTRUSION ALERT: MOTION DETECTED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0553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EA2E077-8AFB-F633-E7FE-D748F7E3B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0076" y="501444"/>
            <a:ext cx="8868697" cy="6356555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System Working</a:t>
            </a:r>
          </a:p>
          <a:p>
            <a:pPr marL="457200" indent="-457200">
              <a:buFont typeface="+mj-lt"/>
              <a:buAutoNum type="arabicPeriod"/>
            </a:pPr>
            <a:r>
              <a:rPr lang="en-IN" cap="none" dirty="0">
                <a:solidFill>
                  <a:schemeClr val="bg1"/>
                </a:solidFill>
              </a:rPr>
              <a:t>PIR sensor triggers EXTI interrupt on motion detection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cap="none" dirty="0">
                <a:solidFill>
                  <a:schemeClr val="bg1"/>
                </a:solidFill>
              </a:rPr>
              <a:t>MQ-2 sensor output is monitored via ADC for smoke detection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cap="none" dirty="0">
                <a:solidFill>
                  <a:schemeClr val="bg1"/>
                </a:solidFill>
              </a:rPr>
              <a:t>LM35 temperature sensor is read using ADC for over-temperature detection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cap="none" dirty="0">
                <a:solidFill>
                  <a:schemeClr val="bg1"/>
                </a:solidFill>
              </a:rPr>
              <a:t>Sensor values are compared against predefined thresholds</a:t>
            </a:r>
          </a:p>
          <a:p>
            <a:pPr marL="457200" indent="-457200">
              <a:buFont typeface="+mj-lt"/>
              <a:buAutoNum type="arabicPeriod"/>
            </a:pPr>
            <a:r>
              <a:rPr lang="en-IN" cap="none" dirty="0">
                <a:solidFill>
                  <a:schemeClr val="bg1"/>
                </a:solidFill>
              </a:rPr>
              <a:t>Alarm is activated based on event priority</a:t>
            </a:r>
          </a:p>
          <a:p>
            <a:pPr marL="457200" indent="-457200">
              <a:buFont typeface="+mj-lt"/>
              <a:buAutoNum type="arabicPeriod"/>
            </a:pPr>
            <a:r>
              <a:rPr lang="en-IN" cap="none" dirty="0">
                <a:solidFill>
                  <a:schemeClr val="bg1"/>
                </a:solidFill>
              </a:rPr>
              <a:t>System status is sent via UART</a:t>
            </a:r>
          </a:p>
          <a:p>
            <a:endParaRPr lang="en-IN" cap="none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Priority 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cap="none" dirty="0">
                <a:solidFill>
                  <a:schemeClr val="bg1"/>
                </a:solidFill>
              </a:rPr>
              <a:t>High temperature (fire)</a:t>
            </a:r>
            <a:r>
              <a:rPr lang="en-US" cap="none" dirty="0">
                <a:solidFill>
                  <a:schemeClr val="bg1"/>
                </a:solidFill>
              </a:rPr>
              <a:t> – highest priority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cap="none" dirty="0">
                <a:solidFill>
                  <a:schemeClr val="bg1"/>
                </a:solidFill>
              </a:rPr>
              <a:t>Smoke detection</a:t>
            </a:r>
            <a:r>
              <a:rPr lang="en-US" cap="none" dirty="0">
                <a:solidFill>
                  <a:schemeClr val="bg1"/>
                </a:solidFill>
              </a:rPr>
              <a:t> – medium priority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cap="none" dirty="0">
                <a:solidFill>
                  <a:schemeClr val="bg1"/>
                </a:solidFill>
              </a:rPr>
              <a:t>Motion detection</a:t>
            </a:r>
            <a:r>
              <a:rPr lang="en-US" cap="none" dirty="0">
                <a:solidFill>
                  <a:schemeClr val="bg1"/>
                </a:solidFill>
              </a:rPr>
              <a:t> – lowest priority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3943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50763C-19CD-760A-D95F-76326281C6C0}"/>
              </a:ext>
            </a:extLst>
          </p:cNvPr>
          <p:cNvSpPr txBox="1"/>
          <p:nvPr/>
        </p:nvSpPr>
        <p:spPr>
          <a:xfrm>
            <a:off x="3355258" y="550607"/>
            <a:ext cx="69489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PIR Sensor ──&gt; EXTI</a:t>
            </a:r>
          </a:p>
          <a:p>
            <a:r>
              <a:rPr lang="en-IN" b="1" dirty="0">
                <a:solidFill>
                  <a:schemeClr val="bg1"/>
                </a:solidFill>
              </a:rPr>
              <a:t>                    │</a:t>
            </a:r>
          </a:p>
          <a:p>
            <a:r>
              <a:rPr lang="en-IN" b="1" dirty="0">
                <a:solidFill>
                  <a:schemeClr val="bg1"/>
                </a:solidFill>
              </a:rPr>
              <a:t>MQ-2 Sensor ─&gt; ADC ─┼─&gt; STM32 ──&gt; Buzzer</a:t>
            </a:r>
          </a:p>
          <a:p>
            <a:r>
              <a:rPr lang="en-IN" b="1" dirty="0">
                <a:solidFill>
                  <a:schemeClr val="bg1"/>
                </a:solidFill>
              </a:rPr>
              <a:t>                    │            					LEDs</a:t>
            </a:r>
          </a:p>
          <a:p>
            <a:r>
              <a:rPr lang="en-IN" b="1" dirty="0">
                <a:solidFill>
                  <a:schemeClr val="bg1"/>
                </a:solidFill>
              </a:rPr>
              <a:t>LM35 Sensor ─&gt; ADC </a:t>
            </a:r>
          </a:p>
          <a:p>
            <a:r>
              <a:rPr lang="en-IN" b="1" dirty="0">
                <a:solidFill>
                  <a:schemeClr val="bg1"/>
                </a:solidFill>
              </a:rPr>
              <a:t>                        └──&gt; UART → PC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9FBB8F-6875-2AC5-39C6-CB23B4FB079D}"/>
              </a:ext>
            </a:extLst>
          </p:cNvPr>
          <p:cNvCxnSpPr>
            <a:cxnSpLocks/>
          </p:cNvCxnSpPr>
          <p:nvPr/>
        </p:nvCxnSpPr>
        <p:spPr>
          <a:xfrm>
            <a:off x="5555226" y="776748"/>
            <a:ext cx="314632" cy="0"/>
          </a:xfrm>
          <a:prstGeom prst="line">
            <a:avLst/>
          </a:prstGeom>
          <a:ln w="158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C72DAC-0A5C-D117-4B45-D89411AD7600}"/>
              </a:ext>
            </a:extLst>
          </p:cNvPr>
          <p:cNvCxnSpPr>
            <a:cxnSpLocks/>
          </p:cNvCxnSpPr>
          <p:nvPr/>
        </p:nvCxnSpPr>
        <p:spPr>
          <a:xfrm>
            <a:off x="5869858" y="776748"/>
            <a:ext cx="0" cy="265471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F914CC-16E2-EFD9-4811-6042D0C19E38}"/>
              </a:ext>
            </a:extLst>
          </p:cNvPr>
          <p:cNvCxnSpPr>
            <a:cxnSpLocks/>
          </p:cNvCxnSpPr>
          <p:nvPr/>
        </p:nvCxnSpPr>
        <p:spPr>
          <a:xfrm>
            <a:off x="5555226" y="1841090"/>
            <a:ext cx="314632" cy="0"/>
          </a:xfrm>
          <a:prstGeom prst="line">
            <a:avLst/>
          </a:prstGeom>
          <a:ln w="158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BF6A61A-DBB3-7BEF-6A6B-053CC76CE19E}"/>
              </a:ext>
            </a:extLst>
          </p:cNvPr>
          <p:cNvCxnSpPr>
            <a:cxnSpLocks/>
          </p:cNvCxnSpPr>
          <p:nvPr/>
        </p:nvCxnSpPr>
        <p:spPr>
          <a:xfrm>
            <a:off x="5869858" y="1570703"/>
            <a:ext cx="0" cy="265471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830970B-925C-0C97-EA00-D713DFCC4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063976"/>
              </p:ext>
            </p:extLst>
          </p:nvPr>
        </p:nvGraphicFramePr>
        <p:xfrm>
          <a:off x="973392" y="3014504"/>
          <a:ext cx="10461523" cy="1463040"/>
        </p:xfrm>
        <a:graphic>
          <a:graphicData uri="http://schemas.openxmlformats.org/drawingml/2006/table">
            <a:tbl>
              <a:tblPr/>
              <a:tblGrid>
                <a:gridCol w="4237705">
                  <a:extLst>
                    <a:ext uri="{9D8B030D-6E8A-4147-A177-3AD203B41FA5}">
                      <a16:colId xmlns:a16="http://schemas.microsoft.com/office/drawing/2014/main" val="1624803529"/>
                    </a:ext>
                  </a:extLst>
                </a:gridCol>
                <a:gridCol w="6223818">
                  <a:extLst>
                    <a:ext uri="{9D8B030D-6E8A-4147-A177-3AD203B41FA5}">
                      <a16:colId xmlns:a16="http://schemas.microsoft.com/office/drawing/2014/main" val="6679076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Sensor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What it does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91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EXTI interrupt → sets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motion_flag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 = 1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962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MQ-2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ADC reading crosses threshold →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smoke_flag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 = 1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05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LM35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ADC reading crosses threshold →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temp_flag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 = 1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606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553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32716-6E07-C252-29F4-731A33142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49565" y="589935"/>
            <a:ext cx="9904459" cy="5043949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solidFill>
                  <a:schemeClr val="bg1"/>
                </a:solidFill>
              </a:rPr>
              <a:t>if (</a:t>
            </a:r>
            <a:r>
              <a:rPr lang="en-IN" dirty="0" err="1">
                <a:solidFill>
                  <a:schemeClr val="bg1"/>
                </a:solidFill>
              </a:rPr>
              <a:t>temp_flag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r>
              <a:rPr lang="en-IN" dirty="0">
                <a:solidFill>
                  <a:schemeClr val="bg1"/>
                </a:solidFill>
              </a:rPr>
              <a:t>{</a:t>
            </a:r>
          </a:p>
          <a:p>
            <a:r>
              <a:rPr lang="en-IN" dirty="0">
                <a:solidFill>
                  <a:schemeClr val="bg1"/>
                </a:solidFill>
              </a:rPr>
              <a:t>    </a:t>
            </a:r>
            <a:r>
              <a:rPr lang="en-IN" dirty="0" err="1">
                <a:solidFill>
                  <a:schemeClr val="bg1"/>
                </a:solidFill>
              </a:rPr>
              <a:t>fire_alarm</a:t>
            </a:r>
            <a:r>
              <a:rPr lang="en-IN" dirty="0">
                <a:solidFill>
                  <a:schemeClr val="bg1"/>
                </a:solidFill>
              </a:rPr>
              <a:t>();        // Highest priority given if all three events occur at same time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  <a:p>
            <a:r>
              <a:rPr lang="en-IN" dirty="0">
                <a:solidFill>
                  <a:schemeClr val="bg1"/>
                </a:solidFill>
              </a:rPr>
              <a:t>else if (</a:t>
            </a:r>
            <a:r>
              <a:rPr lang="en-IN" dirty="0" err="1">
                <a:solidFill>
                  <a:schemeClr val="bg1"/>
                </a:solidFill>
              </a:rPr>
              <a:t>gas_leakage_flag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r>
              <a:rPr lang="en-IN" dirty="0">
                <a:solidFill>
                  <a:schemeClr val="bg1"/>
                </a:solidFill>
              </a:rPr>
              <a:t>{</a:t>
            </a:r>
          </a:p>
          <a:p>
            <a:r>
              <a:rPr lang="en-IN" dirty="0">
                <a:solidFill>
                  <a:schemeClr val="bg1"/>
                </a:solidFill>
              </a:rPr>
              <a:t>    </a:t>
            </a:r>
            <a:r>
              <a:rPr lang="en-IN" dirty="0" err="1">
                <a:solidFill>
                  <a:schemeClr val="bg1"/>
                </a:solidFill>
              </a:rPr>
              <a:t>gas_leakage_alarm</a:t>
            </a:r>
            <a:r>
              <a:rPr lang="en-IN" dirty="0">
                <a:solidFill>
                  <a:schemeClr val="bg1"/>
                </a:solidFill>
              </a:rPr>
              <a:t>();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  <a:p>
            <a:r>
              <a:rPr lang="en-IN" dirty="0">
                <a:solidFill>
                  <a:schemeClr val="bg1"/>
                </a:solidFill>
              </a:rPr>
              <a:t>else if (motion_flag)</a:t>
            </a:r>
          </a:p>
          <a:p>
            <a:r>
              <a:rPr lang="en-IN" dirty="0">
                <a:solidFill>
                  <a:schemeClr val="bg1"/>
                </a:solidFill>
              </a:rPr>
              <a:t>{</a:t>
            </a:r>
          </a:p>
          <a:p>
            <a:r>
              <a:rPr lang="en-IN" dirty="0">
                <a:solidFill>
                  <a:schemeClr val="bg1"/>
                </a:solidFill>
              </a:rPr>
              <a:t>    </a:t>
            </a:r>
            <a:r>
              <a:rPr lang="en-IN" dirty="0" err="1">
                <a:solidFill>
                  <a:schemeClr val="bg1"/>
                </a:solidFill>
              </a:rPr>
              <a:t>intrusion_alarm</a:t>
            </a:r>
            <a:r>
              <a:rPr lang="en-IN" dirty="0">
                <a:solidFill>
                  <a:schemeClr val="bg1"/>
                </a:solidFill>
              </a:rPr>
              <a:t>();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100761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195</TotalTime>
  <Words>323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</vt:lpstr>
      <vt:lpstr>Courier New</vt:lpstr>
      <vt:lpstr>Tw Cen MT</vt:lpstr>
      <vt:lpstr>Circuit</vt:lpstr>
      <vt:lpstr>STM32-Based Home Safety &amp; Theft Detection System</vt:lpstr>
      <vt:lpstr>Objective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ANAGHA R</dc:creator>
  <cp:lastModifiedBy>ANAGHA R</cp:lastModifiedBy>
  <cp:revision>7</cp:revision>
  <dcterms:created xsi:type="dcterms:W3CDTF">2025-12-19T13:40:40Z</dcterms:created>
  <dcterms:modified xsi:type="dcterms:W3CDTF">2025-12-20T17:03:49Z</dcterms:modified>
</cp:coreProperties>
</file>